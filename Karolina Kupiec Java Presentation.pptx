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Slab"/>
      <p:regular r:id="rId21"/>
      <p:bold r:id="rId22"/>
    </p:embeddedFon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bold.fntdata"/><Relationship Id="rId21" Type="http://schemas.openxmlformats.org/officeDocument/2006/relationships/font" Target="fonts/RobotoSlab-regular.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74f3d0b0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74f3d0b0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74f3d0b01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74f3d0b01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74f3d0b01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74f3d0b01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74f3d0b01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74f3d0b01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74f3d0b01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74f3d0b01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74f3d0b01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74f3d0b01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74f3d0b01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74f3d0b01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74f3d0b01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74f3d0b01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74f3d0b01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74f3d0b01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74f3d0b01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74f3d0b01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74f3d0b01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74f3d0b01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74f3d0b01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74f3d0b01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74f3d0b01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74f3d0b01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74f3d0b01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74f3d0b01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Parking Lot Management Application</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Karolina Kupiec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two classes of the application</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SzPts val="2500"/>
              <a:buAutoNum type="arabicPeriod"/>
            </a:pPr>
            <a:r>
              <a:rPr lang="en" sz="2500"/>
              <a:t>Main</a:t>
            </a:r>
            <a:endParaRPr sz="2500"/>
          </a:p>
          <a:p>
            <a:pPr indent="-355600" lvl="1" marL="914400" rtl="0" algn="l">
              <a:spcBef>
                <a:spcPts val="0"/>
              </a:spcBef>
              <a:spcAft>
                <a:spcPts val="0"/>
              </a:spcAft>
              <a:buSzPts val="2000"/>
              <a:buAutoNum type="alphaLcPeriod"/>
            </a:pPr>
            <a:r>
              <a:rPr lang="en" sz="2000"/>
              <a:t>The class where the application runs from</a:t>
            </a:r>
            <a:endParaRPr sz="2000"/>
          </a:p>
          <a:p>
            <a:pPr indent="-355600" lvl="1" marL="914400" rtl="0" algn="l">
              <a:spcBef>
                <a:spcPts val="0"/>
              </a:spcBef>
              <a:spcAft>
                <a:spcPts val="0"/>
              </a:spcAft>
              <a:buSzPts val="2000"/>
              <a:buAutoNum type="alphaLcPeriod"/>
            </a:pPr>
            <a:r>
              <a:rPr lang="en" sz="2000"/>
              <a:t>Asks the user the parking lot size, and further input during normal use.</a:t>
            </a:r>
            <a:endParaRPr sz="2000"/>
          </a:p>
          <a:p>
            <a:pPr indent="-387350" lvl="0" marL="457200" rtl="0" algn="l">
              <a:spcBef>
                <a:spcPts val="0"/>
              </a:spcBef>
              <a:spcAft>
                <a:spcPts val="0"/>
              </a:spcAft>
              <a:buSzPts val="2500"/>
              <a:buAutoNum type="arabicPeriod"/>
            </a:pPr>
            <a:r>
              <a:rPr lang="en" sz="2500"/>
              <a:t>lotManager</a:t>
            </a:r>
            <a:endParaRPr sz="2500"/>
          </a:p>
          <a:p>
            <a:pPr indent="-355600" lvl="1" marL="914400" rtl="0" algn="l">
              <a:spcBef>
                <a:spcPts val="0"/>
              </a:spcBef>
              <a:spcAft>
                <a:spcPts val="0"/>
              </a:spcAft>
              <a:buSzPts val="2000"/>
              <a:buAutoNum type="alphaLcPeriod"/>
            </a:pPr>
            <a:r>
              <a:rPr lang="en" sz="2000"/>
              <a:t>Sets up the parking lot based on user input.</a:t>
            </a:r>
            <a:endParaRPr sz="2000"/>
          </a:p>
          <a:p>
            <a:pPr indent="-355600" lvl="1" marL="914400" rtl="0" algn="l">
              <a:spcBef>
                <a:spcPts val="0"/>
              </a:spcBef>
              <a:spcAft>
                <a:spcPts val="0"/>
              </a:spcAft>
              <a:buSzPts val="2000"/>
              <a:buAutoNum type="alphaLcPeriod"/>
            </a:pPr>
            <a:r>
              <a:rPr lang="en" sz="2000"/>
              <a:t>Generates and modifies data based on user input.</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lotManager Class Variables</a:t>
            </a:r>
            <a:endParaRPr/>
          </a:p>
        </p:txBody>
      </p:sp>
      <p:sp>
        <p:nvSpPr>
          <p:cNvPr id="76" name="Google Shape;76;p15"/>
          <p:cNvSpPr txBox="1"/>
          <p:nvPr>
            <p:ph idx="1" type="body"/>
          </p:nvPr>
        </p:nvSpPr>
        <p:spPr>
          <a:xfrm>
            <a:off x="387900" y="2816200"/>
            <a:ext cx="8368200" cy="211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3 sets of integers and hashmaps, each </a:t>
            </a:r>
            <a:r>
              <a:rPr lang="en"/>
              <a:t>corresponding</a:t>
            </a:r>
            <a:r>
              <a:rPr lang="en"/>
              <a:t> to a specific lot type, small, large, or oversize</a:t>
            </a:r>
            <a:endParaRPr/>
          </a:p>
        </p:txBody>
      </p:sp>
      <p:pic>
        <p:nvPicPr>
          <p:cNvPr id="77" name="Google Shape;77;p15"/>
          <p:cNvPicPr preferRelativeResize="0"/>
          <p:nvPr/>
        </p:nvPicPr>
        <p:blipFill>
          <a:blip r:embed="rId3">
            <a:alphaModFix/>
          </a:blip>
          <a:stretch>
            <a:fillRect/>
          </a:stretch>
        </p:blipFill>
        <p:spPr>
          <a:xfrm>
            <a:off x="387900" y="1489825"/>
            <a:ext cx="6466126" cy="1326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t>
            </a:r>
            <a:r>
              <a:rPr lang="en"/>
              <a:t>reateLot method</a:t>
            </a:r>
            <a:endParaRPr/>
          </a:p>
        </p:txBody>
      </p:sp>
      <p:sp>
        <p:nvSpPr>
          <p:cNvPr id="83" name="Google Shape;83;p16"/>
          <p:cNvSpPr txBox="1"/>
          <p:nvPr>
            <p:ph idx="1" type="body"/>
          </p:nvPr>
        </p:nvSpPr>
        <p:spPr>
          <a:xfrm>
            <a:off x="5235775" y="458025"/>
            <a:ext cx="3520200" cy="4125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method takes an integer parameter and creates 3 equally divided parking lots, the remainders are prioritized to large, and then small.</a:t>
            </a:r>
            <a:endParaRPr/>
          </a:p>
          <a:p>
            <a:pPr indent="-342900" lvl="0" marL="457200" rtl="0" algn="l">
              <a:spcBef>
                <a:spcPts val="0"/>
              </a:spcBef>
              <a:spcAft>
                <a:spcPts val="0"/>
              </a:spcAft>
              <a:buSzPts val="1800"/>
              <a:buChar char="●"/>
            </a:pPr>
            <a:r>
              <a:rPr lang="en"/>
              <a:t>The </a:t>
            </a:r>
            <a:r>
              <a:rPr lang="en"/>
              <a:t>second part of this method fills each hashmap starting from 1 to lotSize+1, for each numbered key, is the value, “Available.</a:t>
            </a:r>
            <a:endParaRPr/>
          </a:p>
        </p:txBody>
      </p:sp>
      <p:pic>
        <p:nvPicPr>
          <p:cNvPr id="84" name="Google Shape;84;p16"/>
          <p:cNvPicPr preferRelativeResize="0"/>
          <p:nvPr/>
        </p:nvPicPr>
        <p:blipFill>
          <a:blip r:embed="rId3">
            <a:alphaModFix/>
          </a:blip>
          <a:stretch>
            <a:fillRect/>
          </a:stretch>
        </p:blipFill>
        <p:spPr>
          <a:xfrm>
            <a:off x="-1" y="1126724"/>
            <a:ext cx="5235774" cy="2890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print(size)Hash</a:t>
            </a:r>
            <a:endParaRPr/>
          </a:p>
        </p:txBody>
      </p:sp>
      <p:sp>
        <p:nvSpPr>
          <p:cNvPr id="90" name="Google Shape;90;p17"/>
          <p:cNvSpPr txBox="1"/>
          <p:nvPr>
            <p:ph idx="1" type="body"/>
          </p:nvPr>
        </p:nvSpPr>
        <p:spPr>
          <a:xfrm>
            <a:off x="387900" y="3831274"/>
            <a:ext cx="8368200" cy="737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For each lot in the desired parking lot hashmap, prints the key and value, meaning lot number and availability of the lot.</a:t>
            </a:r>
            <a:endParaRPr/>
          </a:p>
        </p:txBody>
      </p:sp>
      <p:pic>
        <p:nvPicPr>
          <p:cNvPr id="91" name="Google Shape;91;p17"/>
          <p:cNvPicPr preferRelativeResize="0"/>
          <p:nvPr/>
        </p:nvPicPr>
        <p:blipFill>
          <a:blip r:embed="rId3">
            <a:alphaModFix/>
          </a:blip>
          <a:stretch>
            <a:fillRect/>
          </a:stretch>
        </p:blipFill>
        <p:spPr>
          <a:xfrm>
            <a:off x="387900" y="1144124"/>
            <a:ext cx="6999250" cy="2687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set(size)Hash</a:t>
            </a:r>
            <a:endParaRPr/>
          </a:p>
        </p:txBody>
      </p:sp>
      <p:sp>
        <p:nvSpPr>
          <p:cNvPr id="97" name="Google Shape;97;p18"/>
          <p:cNvSpPr txBox="1"/>
          <p:nvPr>
            <p:ph idx="1" type="body"/>
          </p:nvPr>
        </p:nvSpPr>
        <p:spPr>
          <a:xfrm>
            <a:off x="5713350" y="458025"/>
            <a:ext cx="3042600" cy="411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Checks if the parameter is a lot number that exists and the </a:t>
            </a:r>
            <a:r>
              <a:rPr lang="en"/>
              <a:t>availability</a:t>
            </a:r>
            <a:r>
              <a:rPr lang="en"/>
              <a:t> of the desired spot </a:t>
            </a:r>
            <a:r>
              <a:rPr lang="en"/>
              <a:t>in</a:t>
            </a:r>
            <a:r>
              <a:rPr lang="en"/>
              <a:t> the lot</a:t>
            </a:r>
            <a:endParaRPr/>
          </a:p>
          <a:p>
            <a:pPr indent="-342900" lvl="0" marL="457200" rtl="0" algn="l">
              <a:spcBef>
                <a:spcPts val="0"/>
              </a:spcBef>
              <a:spcAft>
                <a:spcPts val="0"/>
              </a:spcAft>
              <a:buSzPts val="1800"/>
              <a:buChar char="●"/>
            </a:pPr>
            <a:r>
              <a:rPr lang="en"/>
              <a:t>If the lot number exists and if there’s space in the lot, the number is then marked as “Taken”</a:t>
            </a:r>
            <a:endParaRPr/>
          </a:p>
        </p:txBody>
      </p:sp>
      <p:pic>
        <p:nvPicPr>
          <p:cNvPr id="98" name="Google Shape;98;p18"/>
          <p:cNvPicPr preferRelativeResize="0"/>
          <p:nvPr/>
        </p:nvPicPr>
        <p:blipFill>
          <a:blip r:embed="rId3">
            <a:alphaModFix/>
          </a:blip>
          <a:stretch>
            <a:fillRect/>
          </a:stretch>
        </p:blipFill>
        <p:spPr>
          <a:xfrm>
            <a:off x="387900" y="1144125"/>
            <a:ext cx="5325449" cy="29389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remove(size)Hash</a:t>
            </a:r>
            <a:endParaRPr/>
          </a:p>
        </p:txBody>
      </p:sp>
      <p:sp>
        <p:nvSpPr>
          <p:cNvPr id="104" name="Google Shape;104;p19"/>
          <p:cNvSpPr txBox="1"/>
          <p:nvPr>
            <p:ph idx="1" type="body"/>
          </p:nvPr>
        </p:nvSpPr>
        <p:spPr>
          <a:xfrm>
            <a:off x="6076500" y="458025"/>
            <a:ext cx="2679600" cy="411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Checks if the parameter is a lot number that exists and the availability of the desired spot in the lot</a:t>
            </a:r>
            <a:endParaRPr/>
          </a:p>
          <a:p>
            <a:pPr indent="-342900" lvl="0" marL="457200" rtl="0" algn="l">
              <a:spcBef>
                <a:spcPts val="0"/>
              </a:spcBef>
              <a:spcAft>
                <a:spcPts val="0"/>
              </a:spcAft>
              <a:buSzPts val="1800"/>
              <a:buChar char="●"/>
            </a:pPr>
            <a:r>
              <a:rPr lang="en"/>
              <a:t>If the lot number exists and if the spot is marked as “Taken”, the value is changed to “Available”</a:t>
            </a:r>
            <a:endParaRPr/>
          </a:p>
        </p:txBody>
      </p:sp>
      <p:pic>
        <p:nvPicPr>
          <p:cNvPr id="105" name="Google Shape;105;p19"/>
          <p:cNvPicPr preferRelativeResize="0"/>
          <p:nvPr/>
        </p:nvPicPr>
        <p:blipFill>
          <a:blip r:embed="rId3">
            <a:alphaModFix/>
          </a:blip>
          <a:stretch>
            <a:fillRect/>
          </a:stretch>
        </p:blipFill>
        <p:spPr>
          <a:xfrm>
            <a:off x="387900" y="1085431"/>
            <a:ext cx="5688600" cy="32566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Main Class Static Variables</a:t>
            </a:r>
            <a:endParaRPr/>
          </a:p>
        </p:txBody>
      </p:sp>
      <p:sp>
        <p:nvSpPr>
          <p:cNvPr id="111" name="Google Shape;111;p20"/>
          <p:cNvSpPr txBox="1"/>
          <p:nvPr>
            <p:ph idx="1" type="body"/>
          </p:nvPr>
        </p:nvSpPr>
        <p:spPr>
          <a:xfrm>
            <a:off x="387900" y="2270875"/>
            <a:ext cx="8368200" cy="22980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FFFFFF"/>
              </a:buClr>
              <a:buSzPts val="1800"/>
              <a:buChar char="●"/>
            </a:pPr>
            <a:r>
              <a:rPr lang="en">
                <a:solidFill>
                  <a:srgbClr val="FFFFFF"/>
                </a:solidFill>
              </a:rPr>
              <a:t>s</a:t>
            </a:r>
            <a:r>
              <a:rPr lang="en">
                <a:solidFill>
                  <a:srgbClr val="FFFFFF"/>
                </a:solidFill>
              </a:rPr>
              <a:t>tart</a:t>
            </a:r>
            <a:endParaRPr>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Used in the initial while loop that asks the user the desired size of the parking lot</a:t>
            </a:r>
            <a:endParaRPr>
              <a:solidFill>
                <a:srgbClr val="FFFFFF"/>
              </a:solidFill>
            </a:endParaRPr>
          </a:p>
          <a:p>
            <a:pPr indent="-342900" lvl="0" marL="457200" rtl="0" algn="l">
              <a:lnSpc>
                <a:spcPct val="100000"/>
              </a:lnSpc>
              <a:spcBef>
                <a:spcPts val="0"/>
              </a:spcBef>
              <a:spcAft>
                <a:spcPts val="0"/>
              </a:spcAft>
              <a:buClr>
                <a:srgbClr val="FFFFFF"/>
              </a:buClr>
              <a:buSzPts val="1800"/>
              <a:buChar char="●"/>
            </a:pPr>
            <a:r>
              <a:rPr lang="en">
                <a:solidFill>
                  <a:srgbClr val="FFFFFF"/>
                </a:solidFill>
              </a:rPr>
              <a:t>during</a:t>
            </a:r>
            <a:endParaRPr>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Used in the second while loop that continually asks the user which parking lot they want to </a:t>
            </a:r>
            <a:r>
              <a:rPr lang="en">
                <a:solidFill>
                  <a:srgbClr val="FFFFFF"/>
                </a:solidFill>
              </a:rPr>
              <a:t>interact</a:t>
            </a:r>
            <a:r>
              <a:rPr lang="en">
                <a:solidFill>
                  <a:srgbClr val="FFFFFF"/>
                </a:solidFill>
              </a:rPr>
              <a:t> with, and </a:t>
            </a:r>
            <a:r>
              <a:rPr lang="en">
                <a:solidFill>
                  <a:srgbClr val="FFFFFF"/>
                </a:solidFill>
              </a:rPr>
              <a:t>whether they want to add or remove a car, or check the status of the lot.</a:t>
            </a:r>
            <a:r>
              <a:rPr lang="en">
                <a:solidFill>
                  <a:srgbClr val="FFFFFF"/>
                </a:solidFill>
              </a:rPr>
              <a:t> </a:t>
            </a:r>
            <a:endParaRPr>
              <a:solidFill>
                <a:srgbClr val="FFFFFF"/>
              </a:solidFill>
            </a:endParaRPr>
          </a:p>
          <a:p>
            <a:pPr indent="-342900" lvl="0" marL="457200" rtl="0" algn="l">
              <a:lnSpc>
                <a:spcPct val="100000"/>
              </a:lnSpc>
              <a:spcBef>
                <a:spcPts val="0"/>
              </a:spcBef>
              <a:spcAft>
                <a:spcPts val="0"/>
              </a:spcAft>
              <a:buClr>
                <a:srgbClr val="FFFFFF"/>
              </a:buClr>
              <a:buSzPts val="1800"/>
              <a:buChar char="●"/>
            </a:pPr>
            <a:r>
              <a:rPr lang="en">
                <a:solidFill>
                  <a:srgbClr val="FFFFFF"/>
                </a:solidFill>
              </a:rPr>
              <a:t>r</a:t>
            </a:r>
            <a:r>
              <a:rPr lang="en">
                <a:solidFill>
                  <a:srgbClr val="FFFFFF"/>
                </a:solidFill>
              </a:rPr>
              <a:t>untime</a:t>
            </a:r>
            <a:endParaRPr>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Used in the main class as the class that holds the information required by the user, such as parking lot size, and the availability of each parking lot spot. Variables in this class can be changed as required.</a:t>
            </a:r>
            <a:endParaRPr>
              <a:solidFill>
                <a:srgbClr val="FFFFFF"/>
              </a:solidFill>
            </a:endParaRPr>
          </a:p>
        </p:txBody>
      </p:sp>
      <p:pic>
        <p:nvPicPr>
          <p:cNvPr id="112" name="Google Shape;112;p20"/>
          <p:cNvPicPr preferRelativeResize="0"/>
          <p:nvPr/>
        </p:nvPicPr>
        <p:blipFill>
          <a:blip r:embed="rId3">
            <a:alphaModFix/>
          </a:blip>
          <a:stretch>
            <a:fillRect/>
          </a:stretch>
        </p:blipFill>
        <p:spPr>
          <a:xfrm>
            <a:off x="387900" y="1403400"/>
            <a:ext cx="5219700" cy="762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Main Method Execution</a:t>
            </a:r>
            <a:endParaRPr/>
          </a:p>
        </p:txBody>
      </p:sp>
      <p:sp>
        <p:nvSpPr>
          <p:cNvPr id="118" name="Google Shape;118;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Broken up into two parts</a:t>
            </a:r>
            <a:endParaRPr/>
          </a:p>
          <a:p>
            <a:pPr indent="-317500" lvl="1" marL="914400" rtl="0" algn="l">
              <a:spcBef>
                <a:spcPts val="0"/>
              </a:spcBef>
              <a:spcAft>
                <a:spcPts val="0"/>
              </a:spcAft>
              <a:buSzPts val="1400"/>
              <a:buChar char="○"/>
            </a:pPr>
            <a:r>
              <a:rPr lang="en"/>
              <a:t>Initial While Loop</a:t>
            </a:r>
            <a:endParaRPr/>
          </a:p>
          <a:p>
            <a:pPr indent="-317500" lvl="2" marL="1371600" rtl="0" algn="l">
              <a:spcBef>
                <a:spcPts val="0"/>
              </a:spcBef>
              <a:spcAft>
                <a:spcPts val="0"/>
              </a:spcAft>
              <a:buSzPts val="1400"/>
              <a:buChar char="■"/>
            </a:pPr>
            <a:r>
              <a:rPr lang="en"/>
              <a:t>This is where the lotManager will be set up for further use.</a:t>
            </a:r>
            <a:endParaRPr/>
          </a:p>
          <a:p>
            <a:pPr indent="-317500" lvl="1" marL="914400" rtl="0" algn="l">
              <a:spcBef>
                <a:spcPts val="0"/>
              </a:spcBef>
              <a:spcAft>
                <a:spcPts val="0"/>
              </a:spcAft>
              <a:buSzPts val="1400"/>
              <a:buChar char="○"/>
            </a:pPr>
            <a:r>
              <a:rPr lang="en"/>
              <a:t>Second While Loop</a:t>
            </a:r>
            <a:endParaRPr/>
          </a:p>
          <a:p>
            <a:pPr indent="-317500" lvl="2" marL="1371600" rtl="0" algn="l">
              <a:spcBef>
                <a:spcPts val="0"/>
              </a:spcBef>
              <a:spcAft>
                <a:spcPts val="0"/>
              </a:spcAft>
              <a:buSzPts val="1400"/>
              <a:buChar char="■"/>
            </a:pPr>
            <a:r>
              <a:rPr lang="en"/>
              <a:t>This is where the user would be able to interact with the lotManager instance.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Initial While Loop</a:t>
            </a:r>
            <a:endParaRPr/>
          </a:p>
        </p:txBody>
      </p:sp>
      <p:sp>
        <p:nvSpPr>
          <p:cNvPr id="124" name="Google Shape;124;p22"/>
          <p:cNvSpPr txBox="1"/>
          <p:nvPr>
            <p:ph idx="1" type="body"/>
          </p:nvPr>
        </p:nvSpPr>
        <p:spPr>
          <a:xfrm>
            <a:off x="5367350" y="458025"/>
            <a:ext cx="3388800" cy="411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Local Variables</a:t>
            </a:r>
            <a:endParaRPr/>
          </a:p>
          <a:p>
            <a:pPr indent="-317500" lvl="1" marL="914400" rtl="0" algn="l">
              <a:spcBef>
                <a:spcPts val="0"/>
              </a:spcBef>
              <a:spcAft>
                <a:spcPts val="0"/>
              </a:spcAft>
              <a:buSzPts val="1400"/>
              <a:buChar char="○"/>
            </a:pPr>
            <a:r>
              <a:rPr lang="en"/>
              <a:t>Scanner sizeInit</a:t>
            </a:r>
            <a:endParaRPr/>
          </a:p>
          <a:p>
            <a:pPr indent="-317500" lvl="2" marL="1371600" rtl="0" algn="l">
              <a:spcBef>
                <a:spcPts val="0"/>
              </a:spcBef>
              <a:spcAft>
                <a:spcPts val="0"/>
              </a:spcAft>
              <a:buSzPts val="1400"/>
              <a:buChar char="■"/>
            </a:pPr>
            <a:r>
              <a:rPr lang="en"/>
              <a:t>Records user input</a:t>
            </a:r>
            <a:endParaRPr/>
          </a:p>
          <a:p>
            <a:pPr indent="-317500" lvl="1" marL="914400" rtl="0" algn="l">
              <a:spcBef>
                <a:spcPts val="0"/>
              </a:spcBef>
              <a:spcAft>
                <a:spcPts val="0"/>
              </a:spcAft>
              <a:buSzPts val="1400"/>
              <a:buChar char="○"/>
            </a:pPr>
            <a:r>
              <a:rPr lang="en"/>
              <a:t>int lotSize</a:t>
            </a:r>
            <a:endParaRPr/>
          </a:p>
          <a:p>
            <a:pPr indent="-317500" lvl="2" marL="1371600" rtl="0" algn="l">
              <a:spcBef>
                <a:spcPts val="0"/>
              </a:spcBef>
              <a:spcAft>
                <a:spcPts val="0"/>
              </a:spcAft>
              <a:buSzPts val="1400"/>
              <a:buChar char="■"/>
            </a:pPr>
            <a:r>
              <a:rPr lang="en"/>
              <a:t>Converts user input into an int to set up the parking lot</a:t>
            </a:r>
            <a:endParaRPr sz="1400"/>
          </a:p>
          <a:p>
            <a:pPr indent="-317500" lvl="0" marL="457200" rtl="0" algn="l">
              <a:spcBef>
                <a:spcPts val="0"/>
              </a:spcBef>
              <a:spcAft>
                <a:spcPts val="0"/>
              </a:spcAft>
              <a:buSzPts val="1400"/>
              <a:buChar char="●"/>
            </a:pPr>
            <a:r>
              <a:rPr lang="en" sz="1400"/>
              <a:t>This while loop asks the user for input to create the parking lot. If it fails, it will catch the error, and prompt the user again, until it succeeds. This then ends the loop.</a:t>
            </a:r>
            <a:endParaRPr sz="1400"/>
          </a:p>
        </p:txBody>
      </p:sp>
      <p:pic>
        <p:nvPicPr>
          <p:cNvPr id="125" name="Google Shape;125;p22"/>
          <p:cNvPicPr preferRelativeResize="0"/>
          <p:nvPr/>
        </p:nvPicPr>
        <p:blipFill>
          <a:blip r:embed="rId3">
            <a:alphaModFix/>
          </a:blip>
          <a:stretch>
            <a:fillRect/>
          </a:stretch>
        </p:blipFill>
        <p:spPr>
          <a:xfrm>
            <a:off x="387900" y="1144124"/>
            <a:ext cx="4979449" cy="278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Second While Loop: Initial Question</a:t>
            </a:r>
            <a:endParaRPr/>
          </a:p>
        </p:txBody>
      </p:sp>
      <p:sp>
        <p:nvSpPr>
          <p:cNvPr id="131" name="Google Shape;131;p23"/>
          <p:cNvSpPr txBox="1"/>
          <p:nvPr>
            <p:ph idx="1" type="body"/>
          </p:nvPr>
        </p:nvSpPr>
        <p:spPr>
          <a:xfrm>
            <a:off x="387900" y="2746050"/>
            <a:ext cx="4184100" cy="1822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Local Variables</a:t>
            </a:r>
            <a:endParaRPr/>
          </a:p>
          <a:p>
            <a:pPr indent="-317500" lvl="1" marL="914400" rtl="0" algn="l">
              <a:spcBef>
                <a:spcPts val="0"/>
              </a:spcBef>
              <a:spcAft>
                <a:spcPts val="0"/>
              </a:spcAft>
              <a:buSzPts val="1400"/>
              <a:buChar char="○"/>
            </a:pPr>
            <a:r>
              <a:rPr lang="en"/>
              <a:t>String Input: String of what the use</a:t>
            </a:r>
            <a:r>
              <a:rPr lang="en"/>
              <a:t>r </a:t>
            </a:r>
            <a:r>
              <a:rPr lang="en"/>
              <a:t>inputs</a:t>
            </a:r>
            <a:endParaRPr/>
          </a:p>
          <a:p>
            <a:pPr indent="-317500" lvl="1" marL="914400" rtl="0" algn="l">
              <a:spcBef>
                <a:spcPts val="0"/>
              </a:spcBef>
              <a:spcAft>
                <a:spcPts val="0"/>
              </a:spcAft>
              <a:buSzPts val="1400"/>
              <a:buChar char="○"/>
            </a:pPr>
            <a:r>
              <a:rPr lang="en"/>
              <a:t>i</a:t>
            </a:r>
            <a:r>
              <a:rPr lang="en"/>
              <a:t>nt nInput: int of what the user inputs</a:t>
            </a:r>
            <a:endParaRPr/>
          </a:p>
          <a:p>
            <a:pPr indent="-317500" lvl="1" marL="914400" rtl="0" algn="l">
              <a:spcBef>
                <a:spcPts val="0"/>
              </a:spcBef>
              <a:spcAft>
                <a:spcPts val="0"/>
              </a:spcAft>
              <a:buSzPts val="1400"/>
              <a:buChar char="○"/>
            </a:pPr>
            <a:r>
              <a:rPr lang="en"/>
              <a:t>Scanner input: Records user input</a:t>
            </a:r>
            <a:endParaRPr/>
          </a:p>
        </p:txBody>
      </p:sp>
      <p:pic>
        <p:nvPicPr>
          <p:cNvPr id="132" name="Google Shape;132;p23"/>
          <p:cNvPicPr preferRelativeResize="0"/>
          <p:nvPr/>
        </p:nvPicPr>
        <p:blipFill>
          <a:blip r:embed="rId3">
            <a:alphaModFix/>
          </a:blip>
          <a:stretch>
            <a:fillRect/>
          </a:stretch>
        </p:blipFill>
        <p:spPr>
          <a:xfrm>
            <a:off x="1001987" y="1144126"/>
            <a:ext cx="7140026" cy="1601925"/>
          </a:xfrm>
          <a:prstGeom prst="rect">
            <a:avLst/>
          </a:prstGeom>
          <a:noFill/>
          <a:ln>
            <a:noFill/>
          </a:ln>
        </p:spPr>
      </p:pic>
      <p:sp>
        <p:nvSpPr>
          <p:cNvPr id="133" name="Google Shape;133;p23"/>
          <p:cNvSpPr txBox="1"/>
          <p:nvPr/>
        </p:nvSpPr>
        <p:spPr>
          <a:xfrm>
            <a:off x="4572000" y="2746050"/>
            <a:ext cx="3760200" cy="1822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Continual while loop, asking the user what they want to do. Here it is asking which parking lot to interact with, or “Exit” to end the while loop, and thus ending the application.</a:t>
            </a:r>
            <a:endParaRPr sz="18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Second While Loop: Further Questions</a:t>
            </a:r>
            <a:endParaRPr/>
          </a:p>
        </p:txBody>
      </p:sp>
      <p:sp>
        <p:nvSpPr>
          <p:cNvPr id="139" name="Google Shape;139;p24"/>
          <p:cNvSpPr txBox="1"/>
          <p:nvPr>
            <p:ph idx="1" type="body"/>
          </p:nvPr>
        </p:nvSpPr>
        <p:spPr>
          <a:xfrm>
            <a:off x="5411700" y="1144125"/>
            <a:ext cx="3344400" cy="3424500"/>
          </a:xfrm>
          <a:prstGeom prst="rect">
            <a:avLst/>
          </a:prstGeom>
        </p:spPr>
        <p:txBody>
          <a:bodyPr anchorCtr="0" anchor="t" bIns="91425" lIns="91425" spcFirstLastPara="1" rIns="91425" wrap="square" tIns="91425">
            <a:noAutofit/>
          </a:bodyPr>
          <a:lstStyle/>
          <a:p>
            <a:pPr indent="-322104" lvl="0" marL="457200" rtl="0" algn="l">
              <a:lnSpc>
                <a:spcPct val="95000"/>
              </a:lnSpc>
              <a:spcBef>
                <a:spcPts val="0"/>
              </a:spcBef>
              <a:spcAft>
                <a:spcPts val="0"/>
              </a:spcAft>
              <a:buSzPts val="1473"/>
              <a:buChar char="●"/>
            </a:pPr>
            <a:r>
              <a:rPr lang="en" sz="1473"/>
              <a:t>This is the small parking lot code, but large, and </a:t>
            </a:r>
            <a:r>
              <a:rPr lang="en" sz="1473"/>
              <a:t>oversize</a:t>
            </a:r>
            <a:r>
              <a:rPr lang="en" sz="1473"/>
              <a:t> have similar code, but </a:t>
            </a:r>
            <a:r>
              <a:rPr lang="en" sz="1473"/>
              <a:t>using</a:t>
            </a:r>
            <a:r>
              <a:rPr lang="en" sz="1473"/>
              <a:t> their respectful methods.</a:t>
            </a:r>
            <a:endParaRPr sz="1473"/>
          </a:p>
          <a:p>
            <a:pPr indent="-322104" lvl="0" marL="457200" rtl="0" algn="l">
              <a:lnSpc>
                <a:spcPct val="95000"/>
              </a:lnSpc>
              <a:spcBef>
                <a:spcPts val="0"/>
              </a:spcBef>
              <a:spcAft>
                <a:spcPts val="0"/>
              </a:spcAft>
              <a:buSzPts val="1473"/>
              <a:buChar char="●"/>
            </a:pPr>
            <a:r>
              <a:rPr lang="en" sz="1473"/>
              <a:t>Input is set to the user’s input, then checks which block of code to run based on input compared to the if statements</a:t>
            </a:r>
            <a:endParaRPr sz="1473"/>
          </a:p>
          <a:p>
            <a:pPr indent="-322104" lvl="1" marL="914400" rtl="0" algn="l">
              <a:lnSpc>
                <a:spcPct val="95000"/>
              </a:lnSpc>
              <a:spcBef>
                <a:spcPts val="0"/>
              </a:spcBef>
              <a:spcAft>
                <a:spcPts val="0"/>
              </a:spcAft>
              <a:buSzPts val="1473"/>
              <a:buChar char="○"/>
            </a:pPr>
            <a:r>
              <a:rPr lang="en" sz="1473"/>
              <a:t>If input does not match any if statement, the user is returned to the start of the loop, asking which lot to interact with</a:t>
            </a:r>
            <a:endParaRPr sz="1473"/>
          </a:p>
          <a:p>
            <a:pPr indent="-322104" lvl="0" marL="457200" rtl="0" algn="l">
              <a:lnSpc>
                <a:spcPct val="95000"/>
              </a:lnSpc>
              <a:spcBef>
                <a:spcPts val="0"/>
              </a:spcBef>
              <a:spcAft>
                <a:spcPts val="0"/>
              </a:spcAft>
              <a:buSzPts val="1473"/>
              <a:buChar char="●"/>
            </a:pPr>
            <a:r>
              <a:rPr lang="en" sz="1473"/>
              <a:t>Then, when </a:t>
            </a:r>
            <a:r>
              <a:rPr lang="en" sz="1473"/>
              <a:t>necessary, asks the user</a:t>
            </a:r>
            <a:r>
              <a:rPr lang="en" sz="1473"/>
              <a:t> for which lot number, for use in lotManager methods</a:t>
            </a:r>
            <a:endParaRPr sz="1473"/>
          </a:p>
        </p:txBody>
      </p:sp>
      <p:pic>
        <p:nvPicPr>
          <p:cNvPr id="140" name="Google Shape;140;p24"/>
          <p:cNvPicPr preferRelativeResize="0"/>
          <p:nvPr/>
        </p:nvPicPr>
        <p:blipFill>
          <a:blip r:embed="rId3">
            <a:alphaModFix/>
          </a:blip>
          <a:stretch>
            <a:fillRect/>
          </a:stretch>
        </p:blipFill>
        <p:spPr>
          <a:xfrm>
            <a:off x="387900" y="1092050"/>
            <a:ext cx="5073450" cy="3116450"/>
          </a:xfrm>
          <a:prstGeom prst="rect">
            <a:avLst/>
          </a:prstGeom>
          <a:noFill/>
          <a:ln>
            <a:noFill/>
          </a:ln>
        </p:spPr>
      </p:pic>
      <p:sp>
        <p:nvSpPr>
          <p:cNvPr id="141" name="Google Shape;141;p24"/>
          <p:cNvSpPr txBox="1"/>
          <p:nvPr/>
        </p:nvSpPr>
        <p:spPr>
          <a:xfrm>
            <a:off x="411825" y="4301050"/>
            <a:ext cx="5049600" cy="6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A try block surrounds all 3 blocks of if statements, in case the user gives an input that could crash the application</a:t>
            </a:r>
            <a:endParaRPr sz="12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Second While Loop: Further Questions</a:t>
            </a:r>
            <a:endParaRPr/>
          </a:p>
        </p:txBody>
      </p:sp>
      <p:sp>
        <p:nvSpPr>
          <p:cNvPr id="147" name="Google Shape;147;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5"/>
          <p:cNvPicPr preferRelativeResize="0"/>
          <p:nvPr/>
        </p:nvPicPr>
        <p:blipFill>
          <a:blip r:embed="rId3">
            <a:alphaModFix/>
          </a:blip>
          <a:stretch>
            <a:fillRect/>
          </a:stretch>
        </p:blipFill>
        <p:spPr>
          <a:xfrm>
            <a:off x="0" y="1144125"/>
            <a:ext cx="4517425" cy="3417425"/>
          </a:xfrm>
          <a:prstGeom prst="rect">
            <a:avLst/>
          </a:prstGeom>
          <a:noFill/>
          <a:ln>
            <a:noFill/>
          </a:ln>
        </p:spPr>
      </p:pic>
      <p:pic>
        <p:nvPicPr>
          <p:cNvPr id="149" name="Google Shape;149;p25"/>
          <p:cNvPicPr preferRelativeResize="0"/>
          <p:nvPr/>
        </p:nvPicPr>
        <p:blipFill>
          <a:blip r:embed="rId4">
            <a:alphaModFix/>
          </a:blip>
          <a:stretch>
            <a:fillRect/>
          </a:stretch>
        </p:blipFill>
        <p:spPr>
          <a:xfrm>
            <a:off x="4572012" y="1144125"/>
            <a:ext cx="4571363" cy="34174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Examples</a:t>
            </a:r>
            <a:endParaRPr/>
          </a:p>
        </p:txBody>
      </p:sp>
      <p:sp>
        <p:nvSpPr>
          <p:cNvPr id="155" name="Google Shape;155;p26"/>
          <p:cNvSpPr txBox="1"/>
          <p:nvPr>
            <p:ph idx="1" type="body"/>
          </p:nvPr>
        </p:nvSpPr>
        <p:spPr>
          <a:xfrm>
            <a:off x="5009525" y="1336275"/>
            <a:ext cx="3746700" cy="323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Initialization, and exiting the application. </a:t>
            </a:r>
            <a:r>
              <a:rPr lang="en"/>
              <a:t>Checking</a:t>
            </a:r>
            <a:r>
              <a:rPr lang="en"/>
              <a:t> the status of each parking lot section.</a:t>
            </a:r>
            <a:endParaRPr/>
          </a:p>
        </p:txBody>
      </p:sp>
      <p:pic>
        <p:nvPicPr>
          <p:cNvPr id="156" name="Google Shape;156;p26"/>
          <p:cNvPicPr preferRelativeResize="0"/>
          <p:nvPr/>
        </p:nvPicPr>
        <p:blipFill>
          <a:blip r:embed="rId3">
            <a:alphaModFix/>
          </a:blip>
          <a:stretch>
            <a:fillRect/>
          </a:stretch>
        </p:blipFill>
        <p:spPr>
          <a:xfrm>
            <a:off x="387895" y="1336275"/>
            <a:ext cx="4253306" cy="3232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Examples</a:t>
            </a:r>
            <a:endParaRPr/>
          </a:p>
        </p:txBody>
      </p:sp>
      <p:sp>
        <p:nvSpPr>
          <p:cNvPr id="162" name="Google Shape;162;p27"/>
          <p:cNvSpPr txBox="1"/>
          <p:nvPr>
            <p:ph idx="1" type="body"/>
          </p:nvPr>
        </p:nvSpPr>
        <p:spPr>
          <a:xfrm>
            <a:off x="4886750" y="1322175"/>
            <a:ext cx="3869400" cy="3246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In this example: The size of the parking lot is: 6</a:t>
            </a:r>
            <a:endParaRPr/>
          </a:p>
          <a:p>
            <a:pPr indent="0" lvl="0" marL="0" rtl="0" algn="l">
              <a:spcBef>
                <a:spcPts val="1200"/>
              </a:spcBef>
              <a:spcAft>
                <a:spcPts val="0"/>
              </a:spcAft>
              <a:buNone/>
            </a:pPr>
            <a:r>
              <a:rPr lang="en"/>
              <a:t>1)User wants to add a car in small lot, number 1, but it is currently occupied.</a:t>
            </a:r>
            <a:endParaRPr/>
          </a:p>
          <a:p>
            <a:pPr indent="0" lvl="0" marL="0" rtl="0" algn="l">
              <a:spcBef>
                <a:spcPts val="1200"/>
              </a:spcBef>
              <a:spcAft>
                <a:spcPts val="0"/>
              </a:spcAft>
              <a:buNone/>
            </a:pPr>
            <a:r>
              <a:rPr lang="en"/>
              <a:t>2)User was unable to remove a car from the oversize lot because the lot number does not exist</a:t>
            </a:r>
            <a:endParaRPr/>
          </a:p>
          <a:p>
            <a:pPr indent="0" lvl="0" marL="0" rtl="0" algn="l">
              <a:spcBef>
                <a:spcPts val="1200"/>
              </a:spcBef>
              <a:spcAft>
                <a:spcPts val="1200"/>
              </a:spcAft>
              <a:buNone/>
            </a:pPr>
            <a:r>
              <a:rPr lang="en"/>
              <a:t>3)User was able to add to the large lot, because the lot number exists and was available</a:t>
            </a:r>
            <a:endParaRPr/>
          </a:p>
        </p:txBody>
      </p:sp>
      <p:pic>
        <p:nvPicPr>
          <p:cNvPr id="163" name="Google Shape;163;p27"/>
          <p:cNvPicPr preferRelativeResize="0"/>
          <p:nvPr/>
        </p:nvPicPr>
        <p:blipFill>
          <a:blip r:embed="rId3">
            <a:alphaModFix/>
          </a:blip>
          <a:stretch>
            <a:fillRect/>
          </a:stretch>
        </p:blipFill>
        <p:spPr>
          <a:xfrm>
            <a:off x="0" y="1092850"/>
            <a:ext cx="4298741" cy="1427625"/>
          </a:xfrm>
          <a:prstGeom prst="rect">
            <a:avLst/>
          </a:prstGeom>
          <a:noFill/>
          <a:ln>
            <a:noFill/>
          </a:ln>
        </p:spPr>
      </p:pic>
      <p:pic>
        <p:nvPicPr>
          <p:cNvPr id="164" name="Google Shape;164;p27"/>
          <p:cNvPicPr preferRelativeResize="0"/>
          <p:nvPr/>
        </p:nvPicPr>
        <p:blipFill>
          <a:blip r:embed="rId4">
            <a:alphaModFix/>
          </a:blip>
          <a:stretch>
            <a:fillRect/>
          </a:stretch>
        </p:blipFill>
        <p:spPr>
          <a:xfrm>
            <a:off x="0" y="2571750"/>
            <a:ext cx="4298750" cy="973401"/>
          </a:xfrm>
          <a:prstGeom prst="rect">
            <a:avLst/>
          </a:prstGeom>
          <a:noFill/>
          <a:ln>
            <a:noFill/>
          </a:ln>
        </p:spPr>
      </p:pic>
      <p:pic>
        <p:nvPicPr>
          <p:cNvPr id="165" name="Google Shape;165;p27"/>
          <p:cNvPicPr preferRelativeResize="0"/>
          <p:nvPr/>
        </p:nvPicPr>
        <p:blipFill>
          <a:blip r:embed="rId5">
            <a:alphaModFix/>
          </a:blip>
          <a:stretch>
            <a:fillRect/>
          </a:stretch>
        </p:blipFill>
        <p:spPr>
          <a:xfrm>
            <a:off x="365450" y="3596425"/>
            <a:ext cx="3567850" cy="1547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